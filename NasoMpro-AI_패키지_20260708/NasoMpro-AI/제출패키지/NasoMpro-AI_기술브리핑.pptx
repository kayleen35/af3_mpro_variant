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17A58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연구지원 · 의사결정 지원 플랫폼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SARS-CoV-2 Mpro 표적 비강 항바이러스 후보 발굴 + 자율 에이전트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7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브리핑 — 사용설명서 · 기능정의서 · 검증 · 근거 · 정합성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4297680"/>
            <a:ext cx="5029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34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</a:t>
            </a:r>
            <a:pPr indent="0" marL="0">
              <a:buNone/>
            </a:pPr>
            <a:r>
              <a:rPr lang="en-US" sz="14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· 홍성현 박사((주)클리켐바이오)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팀: </a:t>
            </a:r>
            <a:pPr indent="0" marL="0">
              <a:buNone/>
            </a:pPr>
            <a:r>
              <a:rPr lang="en-US" sz="14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아시아경제교육센터 알파폴드팀 · 제4회 JUMP AI 신약개발 경진대회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5257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  https://mpro.wnffn62.workers.dev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— 무엇을 만들었고 무엇이 강한가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82296" cy="141732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276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0.34 → 0.81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예측 정확도(Spearman ρ)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휴리스틱 → ML QSAR (2.4배↑)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463040"/>
            <a:ext cx="82296" cy="141732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6276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6,368종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34840" y="2304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pIC50 학습 데이터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ChEMBL 4,424 + COVID Moonshot 1,944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01000" y="1463040"/>
            <a:ext cx="82296" cy="1417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6276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6.94 → 7.94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183880" y="2304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에이전트 리드 최적화(GC376)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pIC50 향상, 측정값이 확인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54680"/>
            <a:ext cx="82296" cy="306324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배포형 — 오프라인 PWA + 엣지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794760"/>
            <a:ext cx="4892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RDKit-WASM로 브라우저에서 임의 분자의 pIC50 실시간 예측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에이전트·검증 산점도·실측 라이브러리 탭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PC가 꺼져도·오프라인에서도 동작(엣지 상시 호스팅)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1장으로 어디서나 시연 — 대회 데모용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154680"/>
            <a:ext cx="82296" cy="306324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제품형 — 풀스택 웹앱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3794760"/>
            <a:ext cx="4892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+ SQLAlchemy + PostgreSQL + Next.js + Docker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후보·복합체 CRUD, 점수화 이력, 감사로그, 관리자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과학엔진 공유(예측 pIC50·에이전트·검증)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사용자·영속성 — 사내 운영/확장용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·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Mpro·비강인가 — 방향 전환의 논리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132588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938528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현황·한계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51960" y="173736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AlphaFold3로 항체-항원 복합체를 예측하려 했으나, 한 달간 seed를 높여도 정확도가 타 복합체 대비 현저히 낮은 구조적 한계 확인.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11155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017520"/>
            <a:ext cx="82296" cy="132588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3401568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01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전환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51960" y="320040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‘코로나바이러스’ 테마 유지 + 타깃을 스파이크→Mpro(Main Protease, 3CLpro) 리간드/저해제 결합 예측으로 전환.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480560"/>
            <a:ext cx="11155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480560"/>
            <a:ext cx="82296" cy="132588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4864608"/>
            <a:ext cx="548640" cy="548640"/>
          </a:xfrm>
          <a:prstGeom prst="ellipse">
            <a:avLst/>
          </a:prstGeom>
          <a:solidFill>
            <a:srgbClr val="17A58F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864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46634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전환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51960" y="466344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알부민 중심 → 비강 스프레이 국소 전달 전략. 상기도 초기 감염 단계에서 바이러스 복제를 국소 차단하는 치료 가설.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Mpro는 인간 프로테아제와 상동성이 낮아 선택적 항바이러스 표적으로 검증됨 — Nirmatrelvir·Ensitrelvir·GC376 등 승인·임상 저해제 존재.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논문·데이터 근거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표적 · 실측 데이터 기반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82296" cy="228600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표적 근거 (문헌)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Mpro(3CLpro/nsp5)는 viral polyprotein 절단 필수 효소 — 저해 시 복제 차단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FDA: Nirmatrelvir = SARS-CoV-2 Mpro 저해제(Paxlovid 성분)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기준물질 3종: Nirmatrelvir · Ensitrelvir · GC376(공유결합형)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508760"/>
            <a:ext cx="82296" cy="228600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(실측 활성)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084832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ChEMBL SARS-CoV-2 Mpro (CHEMBL4523582): 4,424종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COVID Moonshot(오픈사이언스): 1,944종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고유 6,368종 — 전량 실측 pIC50 = −log₁₀(IC50[M]) 보유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11155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977640"/>
            <a:ext cx="82296" cy="2194560"/>
          </a:xfrm>
          <a:prstGeom prst="roundRect">
            <a:avLst>
              <a:gd name="adj" fmla="val 33333"/>
            </a:avLst>
          </a:prstGeom>
          <a:solidFill>
            <a:srgbClr val="0B3B3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→ 지표 정의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526280"/>
          <a:ext cx="10607040" cy="146304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4754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pIC50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−log₁₀(IC50[mol/L])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높을수록 강한 저해(≥7 ≈ IC50 100nM 이하)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Morgan fingerprint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반경 2 · 2,048비트 구조 지문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분자 구조를 기계학습 입력 벡터로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Tanimoto 유사도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지문 간 교집합/합집합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알려진 강활성과의 구조 근접도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과학엔진, 두 가지 전달 방식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00400" cy="4206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420624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배포형 PWA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788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브라우저(RDKit-WASM)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Ridge QSAR 가중치(JSON)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Worker 오프라인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Worker 엣지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전원 무관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2148840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0B3B39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과학 엔진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7889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RDKit 물성·지문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QSAR pIC50 예측(RF/Ridge)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다성분 후보 점수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4-에이전트 최적화 루프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scaffold-CV 검증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58200" y="1554480"/>
            <a:ext cx="3200400" cy="4206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58200" y="1554480"/>
            <a:ext cx="82296" cy="420624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제품형 풀스택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0" y="210312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Next.js(App Router)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FastAPI(비동기)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SQLAlchemy + PostgreSQL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(로컬은 SQLite 무설치)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감사로그·다중 사용자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2918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092440" y="32918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학습·검증 산출물(qsar_model.json · agent_library.json)을 두 채널이 공유하므로 결과가 일관됩니다.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기능정의서 · FUNCTIONAL SPEC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· 입력 · 출력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4480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분자 평가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SMILES 1개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pIC50·추정 IC50·비강전달성·유사도·물성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predictor / scoring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랭킹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SMILES 여러 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pIC50/개발성 기준 정렬 + CSV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rank_candidates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자율 에이전트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 SMILES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4에이전트 트레이스·최적화 후보·근거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agent.optimize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다성분 후보 점수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후보(SMILES)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Mpro결합·ADMET·비강·안정성·일치도 종합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services/scoring §7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(사전학습)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scaffold-CV ρ·R²·RMSE, 예측-실측 산점도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validation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 라이브러리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필터/정렬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6,368종 실측 pIC50 탐색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library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관리(CRUD)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타깃·복합체·후보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영속 저장·목록·대시보드·감사로그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FastAPI + DB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 엔진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QSAR 활성 예측 — SMILES에서 pIC50를 직접 계산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82296" cy="1371600"/>
          </a:xfrm>
          <a:prstGeom prst="roundRect">
            <a:avLst>
              <a:gd name="adj" fmla="val 33333"/>
            </a:avLst>
          </a:prstGeom>
          <a:solidFill>
            <a:srgbClr val="65736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SMILES 입력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90088" y="196596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600200"/>
            <a:ext cx="82296" cy="137160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600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RDKit 파싱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물성·Morgan 지문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08776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600200"/>
            <a:ext cx="82296" cy="137160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600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QSAR 회귀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/ Ridge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95944" y="196596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61704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B3B39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98864" y="1600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pIC50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추정 IC50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246120"/>
            <a:ext cx="82296" cy="292608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구성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840480"/>
            <a:ext cx="4892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특징: Morgan(r=2, 2048bit) + 7개 물성(MW·logP·TPSA·HBD·HBA·RotB·QED) 표준화 = 2,055차원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RandomForest(서버·Streamlit): 고정밀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Ridge 선형(브라우저): 가중치 JSON export → 오프라인 실시간 예측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§10이 명시한 ‘Morgan+GBM pIC50 회귀’를 실제 구현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2461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246120"/>
            <a:ext cx="82296" cy="29260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예측력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3886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RandomForest  ρ = 0.81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37960" y="44348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Ridge(브라우저)  ρ = 0.76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4892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베이스라인  ρ = 0.34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5440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Nirmatrelvir 예측 pIC50 = 7.0 (강활성으로 정확히 분류)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 · 검증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일반화 성능 — Scaffold 기반 교차검증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452628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Scaffold 분할인가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데이터엔 유사 아날로그가 많아, 무작위 분할은 학습/평가에 near-duplicate가 섞여 성능을 과대평가합니다. 이를 막기 위해 Murcko 골격(1,960개) 단위 5-fold GroupKFold로 분리했습니다.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지표는 학습에 쓰이지 않은 분자에 대한 예측(out-of-fold) 기준의 정직한 일반화 성능입니다.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정합성(Concordance): 예측 pIC50와 실측/도킹의 방향 일치도를 후보 점수의 신뢰도 성분으로 명시합니다.</a:t>
            </a:r>
            <a:endParaRPr lang="en-US" sz="1350" dirty="0"/>
          </a:p>
        </p:txBody>
      </p:sp>
      <p:pic>
        <p:nvPicPr>
          <p:cNvPr id="8" name="Image 0" descr="C:\Users\에스앤피랩\Desktop\클리켐바이오_신약개발플랫폼\제출패키지\img\ui_valid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554480"/>
            <a:ext cx="5623560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에이전트 · AGENTIC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→ 평가 → 최적화 → 규제, 4-에이전트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932688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828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가설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1554480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Mpro 표적·목적함수 정의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596896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596896"/>
            <a:ext cx="82296" cy="932688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96896"/>
            <a:ext cx="1828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QSAR 평가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596896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pIC50·유사도·물성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39312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639312"/>
            <a:ext cx="82296" cy="932688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39312"/>
            <a:ext cx="1828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최적화 루프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14600" y="3639312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아날로그 검색·ML hill-climb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681728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681728"/>
            <a:ext cx="82296" cy="932688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81728"/>
            <a:ext cx="1828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규제·제형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14600" y="4681728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구조알림·비강 판정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574243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사례: GC376 시드 → 예측 pIC50 6.94 → 7.94 (측정 7.82가 확인). 대회 4영역(가설·도구기반 최적화·규제·융합)에 매핑.</a:t>
            </a:r>
            <a:endParaRPr lang="en-US" sz="1150" dirty="0"/>
          </a:p>
        </p:txBody>
      </p:sp>
      <p:pic>
        <p:nvPicPr>
          <p:cNvPr id="21" name="Image 0" descr="C:\Users\에스앤피랩\Desktop\클리켐바이오_신약개발플랫폼\제출패키지\img\ui_ag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554480"/>
            <a:ext cx="5623560" cy="45262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다성분 후보 점수 (기획서 §7)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Candidate Score — 구조에서 자동 산출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82296" cy="123444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099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Mpro 결합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21305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pIC50(QSAR)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600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0248" y="1600200"/>
            <a:ext cx="82296" cy="123444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12" name="Text 10"/>
          <p:cNvSpPr/>
          <p:nvPr/>
        </p:nvSpPr>
        <p:spPr>
          <a:xfrm>
            <a:off x="4453128" y="17099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3128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96128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상호작용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96128" y="21305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강활성 구조 유사(대리)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37576" y="1600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37576" y="1600200"/>
            <a:ext cx="82296" cy="123444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0456" y="17099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0456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63456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ADMET 안전성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63456" y="21305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QED·Lipinski·Veber·알림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971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971800"/>
            <a:ext cx="82296" cy="123444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0815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" y="3593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비강 전달성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28800" y="35021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MW·logP·TPSA·HBD 휴리스틱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0248" y="2971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70248" y="2971800"/>
            <a:ext cx="82296" cy="123444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4453128" y="30815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453128" y="3593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96128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 안정성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96128" y="35021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반응성 구조알림·logP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37576" y="2971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37576" y="2971800"/>
            <a:ext cx="82296" cy="123444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36" name="Text 34"/>
          <p:cNvSpPr/>
          <p:nvPr/>
        </p:nvSpPr>
        <p:spPr>
          <a:xfrm>
            <a:off x="8220456" y="30815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220456" y="3593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63456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63456" y="35021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예측-도킹/커버리지 일치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43434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" y="4343400"/>
            <a:ext cx="82296" cy="123444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44531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85800" y="4965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합성·신규성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828800" y="48737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신규성 지표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SMILES만 입력하면 7개 성분이 구조에서 자동 계산되어 0~100 연구 우선순위로 종합됩니다. (기존 ChatGPT 스캐폴드는 이 값들을 손으로 입력해야 했음)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사용설명서 ① — 배포형 PWA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브라우저만 있으면, 설치 없이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452628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접속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https://mpro.wnffn62.workers.dev (QR 1장) — PC 꺼져도 접속됨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단일 평가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SMILES 입력→‘평가’. 예측 pIC50·IC50·비강·구조 즉시 표시. 프리셋(Nirmatrelvir 등) 버튼 제공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자율 에이전트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SMILES→‘자율 최적화 실행’→4에이전트·트레이스·추천 후보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검증/라이브러리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예측-실측 산점도·ρ, 6,368종 탐색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오프라인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1회 접속 후 네트워크 없이도 동작</a:t>
            </a:r>
            <a:endParaRPr lang="en-US" sz="1250" dirty="0"/>
          </a:p>
        </p:txBody>
      </p:sp>
      <p:pic>
        <p:nvPicPr>
          <p:cNvPr id="7" name="Image 0" descr="C:\Users\에스앤피랩\Desktop\클리켐바이오_신약개발플랫폼\제출패키지\img\ui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874520"/>
            <a:ext cx="5623560" cy="3246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521208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엔진의 대시보드 — 후보/복합체/평균 우선순위/검증 리포트 요약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사용설명서 ② — 제품형 풀스택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무설치 실행 · Docker 운영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45262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로컬(무설치, SQLite)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572000" cy="868680"/>
          </a:xfrm>
          <a:prstGeom prst="rect">
            <a:avLst/>
          </a:prstGeom>
          <a:solidFill>
            <a:srgbClr val="0E2A28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mvp_fullstack/backend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 --port 8000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http://localhost:8000/docs (Swagger)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풀스택(Docker)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4572000" cy="1097280"/>
          </a:xfrm>
          <a:prstGeom prst="rect">
            <a:avLst/>
          </a:prstGeom>
          <a:solidFill>
            <a:srgbClr val="0E2A28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mvp_fullstack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F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프론트 :3000 · API :8000 · Postgres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Dashboard·Candidates(예측 pIC50)·Agent·Complexes·Validation·Admin</a:t>
            </a:r>
            <a:endParaRPr lang="en-US" sz="1200" dirty="0"/>
          </a:p>
        </p:txBody>
      </p:sp>
      <p:pic>
        <p:nvPicPr>
          <p:cNvPr id="11" name="Image 0" descr="C:\Users\에스앤피랩\Desktop\클리켐바이오_신약개발플랫폼\제출패키지\img\ui_candid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874520"/>
            <a:ext cx="5623560" cy="3246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35040" y="521208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목록 — SMILES만으로 예측 pIC50·Mpro결합·비강 자동 채움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및 개발도구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만들고, 어떻게 검증했나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265176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개발·과학 스택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과학: RDKit · scikit-learn(RF/Ridge) · NumPy</a:t>
            </a:r>
            <a:endParaRPr lang="en-US" sz="12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백엔드: FastAPI · SQLAlchemy · SQLite/PostgreSQL</a:t>
            </a:r>
            <a:endParaRPr lang="en-US" sz="12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프론트: Next.js · TypeScript · Tailwind</a:t>
            </a:r>
            <a:endParaRPr lang="en-US" sz="12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배포: Cloudflare Worker(엣지) · Docker · Streamlit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54480"/>
            <a:ext cx="82296" cy="265176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증적 (실제 실행)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✓"/>
            </a:pPr>
            <a:r>
              <a:rPr lang="en-US" sz="1200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4/4 통과(구조스코어·에이전트·검증)</a:t>
            </a:r>
            <a:endParaRPr lang="en-US" sz="1200" dirty="0"/>
          </a:p>
          <a:p>
            <a:pPr marL="177800" indent="-177800">
              <a:lnSpc>
                <a:spcPct val="130000"/>
              </a:lnSpc>
              <a:buSzPct val="100000"/>
              <a:buChar char="✓"/>
            </a:pPr>
            <a:r>
              <a:rPr lang="en-US" sz="1200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라이브 스모크 — 콘솔에러 0</a:t>
            </a:r>
            <a:endParaRPr lang="en-US" sz="1200" dirty="0"/>
          </a:p>
          <a:p>
            <a:pPr marL="177800" indent="-177800">
              <a:lnSpc>
                <a:spcPct val="130000"/>
              </a:lnSpc>
              <a:buSzPct val="100000"/>
              <a:buChar char="✓"/>
            </a:pPr>
            <a:r>
              <a:rPr lang="en-US" sz="1200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API: 예측 7.02 · GC376 6.94→7.94</a:t>
            </a:r>
            <a:endParaRPr lang="en-US" sz="1200" dirty="0"/>
          </a:p>
          <a:p>
            <a:pPr marL="177800" indent="-177800">
              <a:lnSpc>
                <a:spcPct val="130000"/>
              </a:lnSpc>
              <a:buSzPct val="100000"/>
              <a:buChar char="✓"/>
            </a:pPr>
            <a:r>
              <a:rPr lang="en-US" sz="1200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health ok · 풀스택 UI 4화면 검증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8912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4389120"/>
            <a:ext cx="82296" cy="1737360"/>
          </a:xfrm>
          <a:prstGeom prst="roundRect">
            <a:avLst>
              <a:gd name="adj" fmla="val 33333"/>
            </a:avLst>
          </a:prstGeom>
          <a:solidFill>
            <a:srgbClr val="0B3B3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검증 방법 = 기계장치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지표는 사람 눈이 아니라 스크립트로 산출 — 6,368종 골격분할 5-fold → out-of-fold 예측 → Spearman/R²/RMSE 자동 계산·기록. 재현: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ml/train_qsar.py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결과는 qsar_metrics.json에 저장되어 UI·API·리포트가 동일 값을 참조합니다.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· 특성 · 실무 장점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유용한가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297680"/>
        </p:xfrm>
        <a:graphic>
          <a:graphicData uri="http://schemas.openxmlformats.org/drawingml/2006/table">
            <a:tbl>
              <a:tblPr/>
              <a:tblGrid>
                <a:gridCol w="3474720"/>
                <a:gridCol w="768096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실무적 장점 / 효과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SMILES 하나로 즉시 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docking·ADMET 수동 입력 불필요 — 리드 선별 시간을 초 단위로 단축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정직한 검증(ρ=0.81)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골격분할로 과대평가 차단 — 대회·심사·내부 의사결정에서 방어 가능한 수치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자율 에이전트 최적화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시드에서 더 강한·전달성 좋은 아날로그를 자동 제안 → 탐색 공간 축소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오프라인·PC꺼져도 동작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현장/발표/네트워크 불안정 환경에서도 QR 1장으로 시연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영속 DB·감사로그(풀스택)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연구원 협업, 점수 이력·의사결정 추적, 내부 운영·확장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엔진 이원 배포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데모(PWA)와 제품(풀스택)이 같은 결과 — 신뢰·유지보수 용이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경계와 다음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402336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 (비임상 지표)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QSAR는 리간드 기반 예측 — 실제 3D 도킹·결합자유에너지 아님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‘핵심 상호작용’은 구조 유사 대리지표(pose 없음)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비강 전달·독성은 투명 휴리스틱 — 실측 대체 필요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후보 공간 = 실측 라이브러리로 한정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효능·안전성·임상 성공률 판단 아님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54480"/>
            <a:ext cx="82296" cy="402336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(고도화)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→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도킹(AutoDock Vina/GNINA)·pose·상호작용맵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→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단백질-리간드 GNN·앙상블 불확실성·적용가능영역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→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ADMET 전용 예측기(CYP·hERG·Ames)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→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생성모델 기반 de novo 최적화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→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RBAC/SSO·ChEMBL/BindingDB 커넥터·CSV/SDF 업로드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고지: 본 산출물의 모든 수치는 공개 실측 데이터로 학습·검증한 비임상 연구지원 지표이며, 임상·투여·합성·치료 판단을 대체하지 않는다.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17A58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껍데기 제품이 아니라, 검증된 과학이 들어간 플랫폼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6,368종 QSAR(ρ=0.81) · 자율 에이전트(6.94→7.94) · 오프라인 PWA + 풀스택 제품, 하나의 엔진.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3756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https://mpro.wnffn62.workers.dev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코드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Desktop\클리켐바이오_신약개발플랫폼\mvp_fullstack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노트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mvp_fullstack\MERGE_NOTES.md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보고서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제출패키지\NasalMpro_ALBOMB_기술보고서.docx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개발자 · 홍성현 박사((주)클리켐바이오)  |  아시아경제교육센터 알파폴드팀 · 제4회 JUMP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통합 플랫폼 · 비임상 연구지원 지표(임상·투여·합성·치료 판단 아님)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2026-07-07T17:43:27Z</dcterms:created>
  <dcterms:modified xsi:type="dcterms:W3CDTF">2026-07-07T17:43:27Z</dcterms:modified>
</cp:coreProperties>
</file>
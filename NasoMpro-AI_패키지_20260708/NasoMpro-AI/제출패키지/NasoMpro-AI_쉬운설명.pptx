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 쉬운 설명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" y="219456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프로그램, 한마디로 뭐예요?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32918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DE8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“코로나 바이러스를 막는 약 후보를, AI가 더 빠르고 정확하게 골라주는 도구”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4023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7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 지식 없이도 이해할 수 있게 설명드립니다.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B8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NasoMpro-AI · 쉬운 설명 · 비임상 연구지원 도구(치료·임상 아님)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8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· 문제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'Mpro'라는 걸 막나요?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556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00200"/>
            <a:ext cx="82296" cy="2103120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바이러스가 몸속에서 '복사'되려면 'Mpro(엠프로)'라는 가위 같은 효소가 꼭 필요합니다.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가위를 막으면 → 바이러스가 스스로를 복사하지 못하고 → 못 퍼집니다.  (실제로 화이자 팍스로비드도 이 원리입니다.)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977640"/>
            <a:ext cx="11155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3977640"/>
            <a:ext cx="82296" cy="1828800"/>
          </a:xfrm>
          <a:prstGeom prst="roundRect">
            <a:avLst>
              <a:gd name="adj" fmla="val 33333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우리는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5262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“수많은 후보 물질 중, 어떤 것이 이 가위(Mpro)를 잘 막을까?” 를 AI로 빠르게 골라냅니다. 게다가 '코에 뿌리는 스프레이'로 쓰기 좋은지도 함께 봅니다.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NasoMpro-AI · 쉬운 설명 · 비임상 연구지원 도구(치료·임상 아님)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· 무엇을 하나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화학식만 넣으면, 몇 초 만에 점수가 나옵니다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1206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00200"/>
            <a:ext cx="82296" cy="4389120"/>
          </a:xfrm>
          <a:prstGeom prst="roundRect">
            <a:avLst>
              <a:gd name="adj" fmla="val 33333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48920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분자의 '화학식(SMILES)'을 입력창에 붙여넣기</a:t>
            </a:r>
            <a:endParaRPr lang="en-US" sz="1400" dirty="0"/>
          </a:p>
          <a:p>
            <a:pPr marL="203200" indent="-2032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즉시 '예측 점수(pIC50)'를 계산 — 높을수록 잘 막음</a:t>
            </a:r>
            <a:endParaRPr lang="en-US" sz="1400" dirty="0"/>
          </a:p>
          <a:p>
            <a:pPr marL="203200" indent="-2032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 스프레이로 적합한지 '비강 점수'도 함께</a:t>
            </a:r>
            <a:endParaRPr lang="en-US" sz="1400" dirty="0"/>
          </a:p>
          <a:p>
            <a:pPr marL="203200" indent="-2032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개를 한 번에 넣어 순위도 매김</a:t>
            </a:r>
            <a:endParaRPr lang="en-US" sz="1400" dirty="0"/>
          </a:p>
        </p:txBody>
      </p:sp>
      <p:pic>
        <p:nvPicPr>
          <p:cNvPr id="7" name="Image 0" descr="C:\Users\에스앤피랩\Desktop\클리켐바이오_신약개발플랫폼\제출패키지\img\shot_sing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920240"/>
            <a:ext cx="5623560" cy="3017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35040" y="5029200"/>
            <a:ext cx="5623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화면 — 큰 숫자가 '예측 점수'입니다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NasoMpro-AI · 쉬운 설명 · 비임상 연구지원 도구(치료·임상 아님)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· 믿을 수 있나요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데이터로 '채점'해 정확도를 확인했습니다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11155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45920"/>
            <a:ext cx="82296" cy="1828800"/>
          </a:xfrm>
          <a:prstGeom prst="roundRect">
            <a:avLst>
              <a:gd name="adj" fmla="val 33333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정답(실측값)이 있는 물질 6,368개로 AI 예측을 채점했습니다. 그것도 '한 번도 안 본 문제'로만 시험 보듯 엄격하게요.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36576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3657600"/>
            <a:ext cx="82296" cy="2103120"/>
          </a:xfrm>
          <a:prstGeom prst="roundRect">
            <a:avLst>
              <a:gd name="adj" fmla="val 33333"/>
            </a:avLst>
          </a:prstGeom>
          <a:solidFill>
            <a:srgbClr val="65736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8862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0.34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85800" y="4709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예전 방식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51206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구조 비교 — 부정확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51960" y="36576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51960" y="3657600"/>
            <a:ext cx="82296" cy="2103120"/>
          </a:xfrm>
          <a:prstGeom prst="roundRect">
            <a:avLst>
              <a:gd name="adj" fmla="val 33333"/>
            </a:avLst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4434840" y="38862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0.81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434840" y="4709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AI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34840" y="51206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정답과 훨씬 잘 맞음 (2.4배↑)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01000" y="36576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01000" y="3657600"/>
            <a:ext cx="82296" cy="2103120"/>
          </a:xfrm>
          <a:prstGeom prst="roundRect">
            <a:avLst>
              <a:gd name="adj" fmla="val 33333"/>
            </a:avLst>
          </a:prstGeom>
          <a:solidFill>
            <a:srgbClr val="17A58F"/>
          </a:solidFill>
          <a:ln/>
        </p:spPr>
      </p:sp>
      <p:sp>
        <p:nvSpPr>
          <p:cNvPr id="19" name="Text 17"/>
          <p:cNvSpPr/>
          <p:nvPr/>
        </p:nvSpPr>
        <p:spPr>
          <a:xfrm>
            <a:off x="8183880" y="38862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7A5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8183880" y="4709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방식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83880" y="51206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문제로 채점 안 함 → 부풀리기 없음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NasoMpro-AI · 쉬운 설명 · 비임상 연구지원 도구(치료·임상 아님)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 · 똑똑한 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스스로 '더 좋은 후보'를 찾아옵니다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1206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00200"/>
            <a:ext cx="82296" cy="4389120"/>
          </a:xfrm>
          <a:prstGeom prst="roundRect">
            <a:avLst>
              <a:gd name="adj" fmla="val 33333"/>
            </a:avLst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48920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물질 하나를 시작점으로 주면,</a:t>
            </a:r>
            <a:endParaRPr lang="en-US" sz="1400" dirty="0"/>
          </a:p>
          <a:p>
            <a:pPr marL="203200" indent="-2032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에이전트가 비슷하지만 '더 강한' 후보들을 스스로 탐색</a:t>
            </a:r>
            <a:endParaRPr lang="en-US" sz="1400" dirty="0"/>
          </a:p>
          <a:p>
            <a:pPr marL="203200" indent="-2032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예) 점수 6.94 → 7.94 로 끌어올림</a:t>
            </a:r>
            <a:endParaRPr lang="en-US" sz="1400" dirty="0"/>
          </a:p>
          <a:p>
            <a:pPr marL="203200" indent="-2032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측정값이 이 결과를 확인해 줌 (요행 아님)</a:t>
            </a:r>
            <a:endParaRPr lang="en-US" sz="1400" dirty="0"/>
          </a:p>
        </p:txBody>
      </p:sp>
      <p:pic>
        <p:nvPicPr>
          <p:cNvPr id="7" name="Image 0" descr="C:\Users\에스앤피랩\Desktop\클리켐바이오_신약개발플랫폼\제출패키지\img\ui_ag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645920"/>
            <a:ext cx="5623560" cy="4297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NasoMpro-AI · 쉬운 설명 · 비임상 연구지원 도구(치료·임상 아님)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 · 편한 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없이, 어디서나, 컴퓨터가 꺼져 있어도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651760" cy="38404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91640"/>
            <a:ext cx="82296" cy="3840480"/>
          </a:xfrm>
          <a:prstGeom prst="roundRect">
            <a:avLst>
              <a:gd name="adj" fmla="val 33333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20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하나로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329184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 주소(또는 QR)만 있으면 바로 사용. 프로그램 설치 불필요.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691640"/>
            <a:ext cx="2651760" cy="38404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691640"/>
            <a:ext cx="82296" cy="3840480"/>
          </a:xfrm>
          <a:prstGeom prst="roundRect">
            <a:avLst>
              <a:gd name="adj" fmla="val 33333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920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📴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429000" y="2788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오프라인 OK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329184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열어두면 인터넷이 끊겨도 동작.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1691640"/>
            <a:ext cx="2651760" cy="38404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691640"/>
            <a:ext cx="82296" cy="3840480"/>
          </a:xfrm>
          <a:prstGeom prst="roundRect">
            <a:avLst>
              <a:gd name="adj" fmla="val 33333"/>
            </a:avLst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920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💤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217920" y="2788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꺼져도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329184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컴퓨터가 꺼져 있어도 항상 접속됨(엣지 호스팅).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69680" y="1691640"/>
            <a:ext cx="2651760" cy="38404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5E1"/>
            </a:solidFill>
            <a:prstDash val="solid"/>
          </a:ln>
          <a:effectLst>
            <a:outerShdw sx="100000" sy="100000" kx="0" ky="0" algn="bl" rotWithShape="0" blurRad="76200" dist="25400" dir="5400000">
              <a:srgbClr val="9AA5A2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869680" y="1691640"/>
            <a:ext cx="82296" cy="3840480"/>
          </a:xfrm>
          <a:prstGeom prst="roundRect">
            <a:avLst>
              <a:gd name="adj" fmla="val 33333"/>
            </a:avLst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9052560" y="1920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👥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9006840" y="2788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쓰기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52560" y="329184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4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연구원들이 같이 쓰는 '제품형 웹사이트'로도 제공.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NasoMpro-AI · 쉬운 설명 · 비임상 연구지원 도구(치료·임상 아님)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 · 효과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B3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한마디로, 이런 점이 좋습니다</a:t>
            </a:r>
            <a:endParaRPr lang="en-US" sz="2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155680" cy="4023360"/>
        </p:xfrm>
        <a:graphic>
          <a:graphicData uri="http://schemas.openxmlformats.org/drawingml/2006/table">
            <a:tbl>
              <a:tblPr/>
              <a:tblGrid>
                <a:gridCol w="2926080"/>
                <a:gridCol w="822960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무엇이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어떻게 좋아지나 (쉬운 말)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3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빠르게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손으로 며칠 걸릴 후보 추리기를 몇 초 만에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정확하게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데이터로 채점된, 믿을 수 있는 점수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똑똑하게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스스로 더 나은 후보까지 제안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편하게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설치·전문 지식 없이 주소 하나로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있게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211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'왜 이 점수인지' 이유와 검증을 함께 제시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NasoMpro-AI · 쉬운 설명 · 비임상 연구지원 도구(치료·임상 아님)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573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B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11696"/>
            <a:ext cx="12188952" cy="1463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요약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192024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“신약 후보를 더 빠르게, 더 정확하게,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근거를 갖고 골라내는 AI 도구”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3931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눌러보기:  https://mpro.wnffn62.workers.dev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" y="53949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C7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이 도구의 모든 숫자는 '연구용 예측'입니다. 실제 치료·투여·임상 판단이 아닙니다.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B8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NasoMpro-AI · 쉬운 설명 · 비임상 연구지원 도구(치료·임상 아님)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8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2026-07-07T18:03:14Z</dcterms:created>
  <dcterms:modified xsi:type="dcterms:W3CDTF">2026-07-07T18:03:14Z</dcterms:modified>
</cp:coreProperties>
</file>
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솔루션 컨셉: 변이 서열과 억제제 SMILES를 입력하면 로컬 AlphaFold3·AutoDock Vina로 복합체와 결합 친화도를 계산해 내성을 판정하고, 붕괴 지점을 근거로 유도체를 설계·재검증한 뒤 ADMET·비강 적합성까지 확인하는 5단계 파이프라인.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8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pPr indent="0" marL="0">
              <a:buNone/>
            </a:pPr>
            <a:r>
              <a:rPr lang="en-US" sz="1200" dirty="0">
                <a:solidFill>
                  <a:srgbClr val="5A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솔루션 정의 및 목표 설정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66928" y="694944"/>
            <a:ext cx="54864" cy="402336"/>
          </a:xfrm>
          <a:prstGeom prst="rect">
            <a:avLst/>
          </a:prstGeom>
          <a:solidFill>
            <a:srgbClr val="1888A5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640080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82E"/>
                </a:solidFill>
                <a:latin typeface="배달의민족 한나체 Pro" pitchFamily="34" charset="0"/>
                <a:ea typeface="배달의민족 한나체 Pro" pitchFamily="34" charset="-122"/>
                <a:cs typeface="배달의민족 한나체 Pro" pitchFamily="34" charset="-120"/>
              </a:rPr>
              <a:t>솔루션 컨셉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7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1064240" y="1371600"/>
            <a:ext cx="685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0" b="1" dirty="0">
                <a:solidFill>
                  <a:srgbClr val="17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914400" y="1572768"/>
            <a:ext cx="1037844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282E"/>
                </a:solidFill>
                <a:latin typeface="배달의민족 한나체 Pro" pitchFamily="34" charset="0"/>
                <a:ea typeface="배달의민족 한나체 Pro" pitchFamily="34" charset="-122"/>
                <a:cs typeface="배달의민족 한나체 Pro" pitchFamily="34" charset="-120"/>
              </a:rPr>
              <a:t>AlphaFold3 결합 붕괴 분석을 통해 Mpro 변이 내성 극복 유도체 설계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2473452" y="3401568"/>
            <a:ext cx="603504" cy="548640"/>
          </a:xfrm>
          <a:prstGeom prst="chevron">
            <a:avLst/>
          </a:prstGeom>
          <a:solidFill>
            <a:srgbClr val="11607A"/>
          </a:solidFill>
          <a:ln/>
        </p:spPr>
      </p:sp>
      <p:sp>
        <p:nvSpPr>
          <p:cNvPr id="9" name="Shape 7"/>
          <p:cNvSpPr/>
          <p:nvPr/>
        </p:nvSpPr>
        <p:spPr>
          <a:xfrm>
            <a:off x="754380" y="2761488"/>
            <a:ext cx="1828800" cy="1828800"/>
          </a:xfrm>
          <a:prstGeom prst="ellipse">
            <a:avLst/>
          </a:prstGeom>
          <a:solidFill>
            <a:srgbClr val="0B3C4A"/>
          </a:solidFill>
          <a:ln/>
        </p:spPr>
      </p:sp>
      <p:sp>
        <p:nvSpPr>
          <p:cNvPr id="10" name="Shape 8"/>
          <p:cNvSpPr/>
          <p:nvPr/>
        </p:nvSpPr>
        <p:spPr>
          <a:xfrm>
            <a:off x="1065276" y="3072384"/>
            <a:ext cx="1207008" cy="12070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7028" y="3374136"/>
            <a:ext cx="603504" cy="60350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34340" y="473659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82E"/>
                </a:solidFill>
                <a:latin typeface="배달의민족 한나체 Pro" pitchFamily="34" charset="0"/>
                <a:ea typeface="배달의민족 한나체 Pro" pitchFamily="34" charset="-122"/>
                <a:cs typeface="배달의민족 한나체 Pro" pitchFamily="34" charset="-120"/>
              </a:rPr>
              <a:t>도킹 내성 지도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34340" y="510235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A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억제제 × 6 변이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A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AutoDock Vina 내성 지도 제작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686300" y="3401568"/>
            <a:ext cx="603504" cy="548640"/>
          </a:xfrm>
          <a:prstGeom prst="chevron">
            <a:avLst/>
          </a:prstGeom>
          <a:solidFill>
            <a:srgbClr val="1888A5"/>
          </a:solidFill>
          <a:ln/>
        </p:spPr>
      </p:sp>
      <p:sp>
        <p:nvSpPr>
          <p:cNvPr id="15" name="Shape 12"/>
          <p:cNvSpPr/>
          <p:nvPr/>
        </p:nvSpPr>
        <p:spPr>
          <a:xfrm>
            <a:off x="2967228" y="2761488"/>
            <a:ext cx="1828800" cy="1828800"/>
          </a:xfrm>
          <a:prstGeom prst="ellipse">
            <a:avLst/>
          </a:prstGeom>
          <a:solidFill>
            <a:srgbClr val="11607A"/>
          </a:solidFill>
          <a:ln/>
        </p:spPr>
      </p:sp>
      <p:sp>
        <p:nvSpPr>
          <p:cNvPr id="16" name="Shape 13"/>
          <p:cNvSpPr/>
          <p:nvPr/>
        </p:nvSpPr>
        <p:spPr>
          <a:xfrm>
            <a:off x="3278124" y="3072384"/>
            <a:ext cx="1207008" cy="12070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9876" y="3374136"/>
            <a:ext cx="603504" cy="60350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647188" y="473659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82E"/>
                </a:solidFill>
                <a:latin typeface="배달의민족 한나체 Pro" pitchFamily="34" charset="0"/>
                <a:ea typeface="배달의민족 한나체 Pro" pitchFamily="34" charset="-122"/>
                <a:cs typeface="배달의민족 한나체 Pro" pitchFamily="34" charset="-120"/>
              </a:rPr>
              <a:t>AF3 정밀 확인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2647188" y="510235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A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선별한 핵심 조합 복합체 예측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A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결합 붕괴 위치·기전 분석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899148" y="3401568"/>
            <a:ext cx="603504" cy="548640"/>
          </a:xfrm>
          <a:prstGeom prst="chevron">
            <a:avLst/>
          </a:prstGeom>
          <a:solidFill>
            <a:srgbClr val="4FB8C9"/>
          </a:solidFill>
          <a:ln/>
        </p:spPr>
      </p:sp>
      <p:sp>
        <p:nvSpPr>
          <p:cNvPr id="21" name="Shape 17"/>
          <p:cNvSpPr/>
          <p:nvPr/>
        </p:nvSpPr>
        <p:spPr>
          <a:xfrm>
            <a:off x="5180076" y="2761488"/>
            <a:ext cx="1828800" cy="1828800"/>
          </a:xfrm>
          <a:prstGeom prst="ellipse">
            <a:avLst/>
          </a:prstGeom>
          <a:solidFill>
            <a:srgbClr val="1888A5"/>
          </a:solidFill>
          <a:ln/>
        </p:spPr>
      </p:sp>
      <p:sp>
        <p:nvSpPr>
          <p:cNvPr id="22" name="Shape 18"/>
          <p:cNvSpPr/>
          <p:nvPr/>
        </p:nvSpPr>
        <p:spPr>
          <a:xfrm>
            <a:off x="5490972" y="3072384"/>
            <a:ext cx="1207008" cy="12070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2724" y="3374136"/>
            <a:ext cx="603504" cy="60350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860036" y="473659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82E"/>
                </a:solidFill>
                <a:latin typeface="배달의민족 한나체 Pro" pitchFamily="34" charset="0"/>
                <a:ea typeface="배달의민족 한나체 Pro" pitchFamily="34" charset="-122"/>
                <a:cs typeface="배달의민족 한나체 Pro" pitchFamily="34" charset="-120"/>
              </a:rPr>
              <a:t>유도체 설계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4860036" y="510235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A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결합 실패 지점 기반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A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스캐폴드 변형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9111996" y="3401568"/>
            <a:ext cx="603504" cy="548640"/>
          </a:xfrm>
          <a:prstGeom prst="chevron">
            <a:avLst/>
          </a:prstGeom>
          <a:solidFill>
            <a:srgbClr val="9FDCE0"/>
          </a:solidFill>
          <a:ln/>
        </p:spPr>
      </p:sp>
      <p:sp>
        <p:nvSpPr>
          <p:cNvPr id="27" name="Shape 22"/>
          <p:cNvSpPr/>
          <p:nvPr/>
        </p:nvSpPr>
        <p:spPr>
          <a:xfrm>
            <a:off x="7392924" y="2761488"/>
            <a:ext cx="1828800" cy="1828800"/>
          </a:xfrm>
          <a:prstGeom prst="ellipse">
            <a:avLst/>
          </a:prstGeom>
          <a:solidFill>
            <a:srgbClr val="4FB8C9"/>
          </a:solidFill>
          <a:ln/>
        </p:spPr>
      </p:sp>
      <p:sp>
        <p:nvSpPr>
          <p:cNvPr id="28" name="Shape 23"/>
          <p:cNvSpPr/>
          <p:nvPr/>
        </p:nvSpPr>
        <p:spPr>
          <a:xfrm>
            <a:off x="7703820" y="3072384"/>
            <a:ext cx="1207008" cy="12070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5572" y="3374136"/>
            <a:ext cx="603504" cy="60350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072884" y="473659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82E"/>
                </a:solidFill>
                <a:latin typeface="배달의민족 한나체 Pro" pitchFamily="34" charset="0"/>
                <a:ea typeface="배달의민족 한나체 Pro" pitchFamily="34" charset="-122"/>
                <a:cs typeface="배달의민족 한나체 Pro" pitchFamily="34" charset="-120"/>
              </a:rPr>
              <a:t>결합 재검증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7072884" y="510235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A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유도체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A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AF3·도킹 재평가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9605772" y="2761488"/>
            <a:ext cx="1828800" cy="1828800"/>
          </a:xfrm>
          <a:prstGeom prst="ellipse">
            <a:avLst/>
          </a:prstGeom>
          <a:solidFill>
            <a:srgbClr val="9FDCE0"/>
          </a:solidFill>
          <a:ln/>
        </p:spPr>
      </p:sp>
      <p:sp>
        <p:nvSpPr>
          <p:cNvPr id="33" name="Shape 27"/>
          <p:cNvSpPr/>
          <p:nvPr/>
        </p:nvSpPr>
        <p:spPr>
          <a:xfrm>
            <a:off x="9916668" y="3072384"/>
            <a:ext cx="1207008" cy="12070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8420" y="3374136"/>
            <a:ext cx="603504" cy="60350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285732" y="473659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82E"/>
                </a:solidFill>
                <a:latin typeface="배달의민족 한나체 Pro" pitchFamily="34" charset="0"/>
                <a:ea typeface="배달의민족 한나체 Pro" pitchFamily="34" charset="-122"/>
                <a:cs typeface="배달의민족 한나체 Pro" pitchFamily="34" charset="-120"/>
              </a:rPr>
              <a:t>ADMET·비강 적합성</a:t>
            </a:r>
            <a:endParaRPr lang="en-US" sz="1400" dirty="0"/>
          </a:p>
        </p:txBody>
      </p:sp>
      <p:sp>
        <p:nvSpPr>
          <p:cNvPr id="36" name="Text 29"/>
          <p:cNvSpPr/>
          <p:nvPr/>
        </p:nvSpPr>
        <p:spPr>
          <a:xfrm>
            <a:off x="9285732" y="510235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A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ADMET flag 판정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A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비강 물성 early gate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11324844" y="3401568"/>
            <a:ext cx="420624" cy="548640"/>
          </a:xfrm>
          <a:prstGeom prst="chevron">
            <a:avLst/>
          </a:prstGeom>
          <a:solidFill>
            <a:srgbClr val="D6EEF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2026-07-28T11:42:03Z</dcterms:created>
  <dcterms:modified xsi:type="dcterms:W3CDTF">2026-07-28T11:42:03Z</dcterms:modified>
</cp:coreProperties>
</file>
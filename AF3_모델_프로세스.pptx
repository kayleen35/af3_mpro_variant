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프로세스: 플랫폼은 AlphaFold3(복합체 구조 예측) · QuickVina2(결합 친화도 재도킹) · RDKit(물성/구조 진단) 3개 핵심 모델을 파이프라인으로 결합한다. 각 모델은 실험 구조 없는 변이체 대응(AF3), Windows 로컬 환경에서의 Vina 스코어링 재사용(QuickVina2), 오픈소스 PAINS/BRENK 필터 활용(RDKit) 이라는 이유로 선정했다. 개발환경은 WSL2 Ubuntu + RTX 4070 GPU 추론, conda af3-rdkit 가상환경, Node.js/Express 오케스트레이션, React 19 프론트엔드로 구성된다.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8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모델 및 기술 스택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54864" cy="384048"/>
          </a:xfrm>
          <a:prstGeom prst="rect">
            <a:avLst/>
          </a:prstGeom>
          <a:solidFill>
            <a:srgbClr val="1888A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48640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모델 프로세스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파이프라인을 구성하는 3개 핵심 모델의 입력 · 기술 · 출력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417320"/>
            <a:ext cx="3383280" cy="502920"/>
          </a:xfrm>
          <a:prstGeom prst="rect">
            <a:avLst/>
          </a:prstGeom>
          <a:solidFill>
            <a:srgbClr val="0B3C4A"/>
          </a:solidFill>
          <a:ln w="9525">
            <a:solidFill>
              <a:srgbClr val="0B3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AlphaFold3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복합체 구조 예측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3383280" cy="502920"/>
          </a:xfrm>
          <a:prstGeom prst="rect">
            <a:avLst/>
          </a:prstGeom>
          <a:solidFill>
            <a:srgbClr val="0B3C4A"/>
          </a:solidFill>
          <a:ln w="9525">
            <a:solidFill>
              <a:srgbClr val="0B3C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QuickVina2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 친화도 재도킹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21040" y="1417320"/>
            <a:ext cx="3383280" cy="502920"/>
          </a:xfrm>
          <a:prstGeom prst="rect">
            <a:avLst/>
          </a:prstGeom>
          <a:solidFill>
            <a:srgbClr val="0B3C4A"/>
          </a:solidFill>
          <a:ln w="9525">
            <a:solidFill>
              <a:srgbClr val="0B3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RDKit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물성·구조 진단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1920240"/>
            <a:ext cx="1051560" cy="777240"/>
          </a:xfrm>
          <a:prstGeom prst="rect">
            <a:avLst/>
          </a:prstGeom>
          <a:solidFill>
            <a:srgbClr val="EAF4F5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202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8A5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1. 입력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192024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0784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WT/변이 서열 (protein, id: A·B)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억제제 SMILES (ligand, id: C)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dialect: alphafold3 / version: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192024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 PDB (AF3 출력 chain A/B)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 PDB (AF3 출력 chain C)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포켓 중심 좌표 (positive control 검증)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192024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억제제/유도체 SMILES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1051560" cy="914400"/>
          </a:xfrm>
          <a:prstGeom prst="rect">
            <a:avLst/>
          </a:prstGeom>
          <a:solidFill>
            <a:srgbClr val="EAF4F5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974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8A5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2. 기술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54480" y="2697480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0784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 Diffusion 모델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Homodimer 고정 (A·B 동일 서열)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WSL2 Ubuntu · RTX 4070 GPU 추론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modelSeeds 지정 시 재현 가능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2697480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Meeko mk_prepare_receptor/ligand → PDBQT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AutoDock Vina 스코어링 함수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20×20×20 Å · exhaustiveness 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21040" y="2697480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 파마코포어 매칭 (warhead·P1·P2)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Descriptors: MW·cLogP·TPSA·HBD/HBA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FilterCatalog: PAINS A/B/C · BRENK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ESOL 용해도 추정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611880"/>
            <a:ext cx="1051560" cy="713232"/>
          </a:xfrm>
          <a:prstGeom prst="rect">
            <a:avLst/>
          </a:prstGeom>
          <a:solidFill>
            <a:srgbClr val="EAF4F5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1188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88A5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3. 출력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54480" y="3611880"/>
            <a:ext cx="3383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0784" y="36118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복합체 mmCIF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pLDDT 구조 신뢰도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접촉·H-bond 실측 좌표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611880"/>
            <a:ext cx="3383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36118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결합에너지 (kcal/mol)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대비 후보 Δ 비교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3611880"/>
            <a:ext cx="3383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4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67344" y="36118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경고(structural alerts)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하이라이트 SVG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 Good/Warning 판정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471416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모델 비교 · 선정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764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구조 없는 변이체 구조 예측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0" y="4809744"/>
            <a:ext cx="1051560" cy="182880"/>
          </a:xfrm>
          <a:prstGeom prst="rect">
            <a:avLst>
              <a:gd name="adj" fmla="val 30000"/>
            </a:avLst>
          </a:prstGeom>
          <a:solidFill>
            <a:srgbClr val="EAF4F5"/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0" y="48097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88A5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AlphaFold3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0" y="4764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결정구조(PDB) 없이도 변이 서열만으로 복합체 예측 — positive control(7VH8, 8V4U)로 재현성 검증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5093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 친화도 정량 비교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26080" y="5138928"/>
            <a:ext cx="1051560" cy="182880"/>
          </a:xfrm>
          <a:prstGeom prst="rect">
            <a:avLst>
              <a:gd name="adj" fmla="val 30000"/>
            </a:avLst>
          </a:prstGeom>
          <a:solidFill>
            <a:srgbClr val="EAF4F5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0" y="51389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88A5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QuickVina2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114800" y="5093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AutoDock Vina 스코어링 함수를 Windows 로컬 환경에서 그대로 재사용, Meeko 전처리 연동 용이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5422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물성·구조 경고 스크리닝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926080" y="5468112"/>
            <a:ext cx="1051560" cy="182880"/>
          </a:xfrm>
          <a:prstGeom prst="rect">
            <a:avLst>
              <a:gd name="adj" fmla="val 30000"/>
            </a:avLst>
          </a:prstGeom>
          <a:solidFill>
            <a:srgbClr val="EAF4F5"/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0" y="54681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88A5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RDKit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14800" y="5422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오픈소스로 PAINS/BRENK 표준 필터 내장, SMARTS 커스터마이징으로 파마코포어 진단 직접 구현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35240" y="4416552"/>
            <a:ext cx="4069080" cy="1609344"/>
          </a:xfrm>
          <a:prstGeom prst="rect">
            <a:avLst>
              <a:gd name="adj" fmla="val 3409"/>
            </a:avLst>
          </a:prstGeom>
          <a:solidFill>
            <a:srgbClr val="F5FAFB"/>
          </a:solidFill>
          <a:ln/>
        </p:spPr>
      </p:sp>
      <p:sp>
        <p:nvSpPr>
          <p:cNvPr id="51" name="Text 49"/>
          <p:cNvSpPr/>
          <p:nvPr/>
        </p:nvSpPr>
        <p:spPr>
          <a:xfrm>
            <a:off x="7836408" y="44714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E"/>
                </a:solidFill>
                <a:latin typeface="배달의민족 한나체 Pro" pitchFamily="34" charset="0"/>
                <a:ea typeface="배달의민족 한나체 Pro" pitchFamily="34" charset="-122"/>
                <a:cs typeface="배달의민족 한나체 Pro" pitchFamily="34" charset="-120"/>
              </a:rPr>
              <a:t>개발 환경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836408" y="4782312"/>
            <a:ext cx="3666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추론  </a:t>
            </a:r>
            <a:pPr indent="0" marL="0">
              <a:buNone/>
            </a:pPr>
            <a:r>
              <a:rPr lang="en-US" sz="9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WSL2 Ubuntu · NVIDIA RTX 4070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836408" y="5093208"/>
            <a:ext cx="3666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화학 연산  </a:t>
            </a:r>
            <a:pPr indent="0" marL="0">
              <a:buNone/>
            </a:pPr>
            <a:r>
              <a:rPr lang="en-US" sz="9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conda 가상환경 af3-rdkit (RDKit·Meeko·QuickVina2)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836408" y="5404104"/>
            <a:ext cx="3666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  </a:t>
            </a:r>
            <a:pPr indent="0" marL="0">
              <a:buNone/>
            </a:pPr>
            <a:r>
              <a:rPr lang="en-US" sz="9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Express (Job 폴링·프로세스 중계)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36408" y="5715000"/>
            <a:ext cx="3666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8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 </a:t>
            </a:r>
            <a:pPr indent="0" marL="0">
              <a:buNone/>
            </a:pPr>
            <a:r>
              <a:rPr lang="en-US" sz="950" dirty="0">
                <a:solidFill>
                  <a:srgbClr val="17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· Vite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2026-07-28T11:59:13Z</dcterms:created>
  <dcterms:modified xsi:type="dcterms:W3CDTF">2026-07-28T11:59:13Z</dcterms:modified>
</cp:coreProperties>
</file>